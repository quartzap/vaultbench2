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10"/>
  </p:normalViewPr>
  <p:slideViewPr>
    <p:cSldViewPr snapToGrid="0" snapToObjects="1">
      <p:cViewPr varScale="1">
        <p:scale>
          <a:sx n="207" d="100"/>
          <a:sy n="207" d="100"/>
        </p:scale>
        <p:origin x="4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275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549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Armor — Guardrails Test Dataset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(12,000) + Multi-turn (1,200) adversarial prompts mapped to Google Cloud Model Armor filters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850392"/>
            <a:ext cx="85496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2029968" cy="658368"/>
          </a:xfrm>
          <a:prstGeom prst="roundRect">
            <a:avLst>
              <a:gd name="adj" fmla="val 6944"/>
            </a:avLst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0584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66344" y="13533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prompts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51176" y="960120"/>
            <a:ext cx="2029968" cy="658368"/>
          </a:xfrm>
          <a:prstGeom prst="roundRect">
            <a:avLst>
              <a:gd name="adj" fmla="val 6944"/>
            </a:avLst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  <a:effectLst>
            <a:outerShdw blurRad="645160000" dist="161290000"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51176" y="100584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06040" y="13533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Armor filter categories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2029968" cy="658368"/>
          </a:xfrm>
          <a:prstGeom prst="roundRect">
            <a:avLst>
              <a:gd name="adj" fmla="val 6944"/>
            </a:avLst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90872" y="100584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45736" y="13533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+ synthetic sources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30568" y="960120"/>
            <a:ext cx="2029968" cy="658368"/>
          </a:xfrm>
          <a:prstGeom prst="roundRect">
            <a:avLst>
              <a:gd name="adj" fmla="val 6944"/>
            </a:avLst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30568" y="100584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85432" y="13533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Attack-vector framings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1755648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by Model Armor category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202996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9544" y="2029968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29000" y="202996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21284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/ Jailbreak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32888" y="2276856"/>
            <a:ext cx="640080" cy="118872"/>
          </a:xfrm>
          <a:prstGeom prst="rect">
            <a:avLst/>
          </a:prstGeom>
          <a:solidFill>
            <a:srgbClr val="D71E2B"/>
          </a:solidFill>
          <a:ln/>
        </p:spPr>
      </p:sp>
      <p:sp>
        <p:nvSpPr>
          <p:cNvPr id="23" name="Text 21"/>
          <p:cNvSpPr/>
          <p:nvPr/>
        </p:nvSpPr>
        <p:spPr>
          <a:xfrm>
            <a:off x="3209544" y="2212848"/>
            <a:ext cx="5669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2212848"/>
            <a:ext cx="685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423160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Content (RAI)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32888" y="2487168"/>
            <a:ext cx="615462" cy="118872"/>
          </a:xfrm>
          <a:prstGeom prst="rect">
            <a:avLst/>
          </a:prstGeom>
          <a:solidFill>
            <a:srgbClr val="D71E2B"/>
          </a:solidFill>
          <a:ln/>
        </p:spPr>
      </p:sp>
      <p:sp>
        <p:nvSpPr>
          <p:cNvPr id="27" name="Text 25"/>
          <p:cNvSpPr/>
          <p:nvPr/>
        </p:nvSpPr>
        <p:spPr>
          <a:xfrm>
            <a:off x="3209544" y="2423160"/>
            <a:ext cx="5669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29000" y="2423160"/>
            <a:ext cx="685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2633472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Speech (RAI)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32888" y="2697480"/>
            <a:ext cx="344658" cy="118872"/>
          </a:xfrm>
          <a:prstGeom prst="rect">
            <a:avLst/>
          </a:prstGeom>
          <a:solidFill>
            <a:srgbClr val="D71E2B"/>
          </a:solidFill>
          <a:ln/>
        </p:spPr>
      </p:sp>
      <p:sp>
        <p:nvSpPr>
          <p:cNvPr id="31" name="Text 29"/>
          <p:cNvSpPr/>
          <p:nvPr/>
        </p:nvSpPr>
        <p:spPr>
          <a:xfrm>
            <a:off x="3209544" y="2633472"/>
            <a:ext cx="5669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29000" y="2633472"/>
            <a:ext cx="685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" y="2843784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URIs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32888" y="2907792"/>
            <a:ext cx="344658" cy="118872"/>
          </a:xfrm>
          <a:prstGeom prst="rect">
            <a:avLst/>
          </a:prstGeom>
          <a:solidFill>
            <a:srgbClr val="D71E2B"/>
          </a:solidFill>
          <a:ln/>
        </p:spPr>
      </p:sp>
      <p:sp>
        <p:nvSpPr>
          <p:cNvPr id="35" name="Text 33"/>
          <p:cNvSpPr/>
          <p:nvPr/>
        </p:nvSpPr>
        <p:spPr>
          <a:xfrm>
            <a:off x="3209544" y="2843784"/>
            <a:ext cx="5669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29000" y="2843784"/>
            <a:ext cx="685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305409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Sexually Explicit (RAI)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32888" y="3118104"/>
            <a:ext cx="270803" cy="118872"/>
          </a:xfrm>
          <a:prstGeom prst="rect">
            <a:avLst/>
          </a:prstGeom>
          <a:solidFill>
            <a:srgbClr val="D71E2B"/>
          </a:solidFill>
          <a:ln/>
        </p:spPr>
      </p:sp>
      <p:sp>
        <p:nvSpPr>
          <p:cNvPr id="39" name="Text 37"/>
          <p:cNvSpPr/>
          <p:nvPr/>
        </p:nvSpPr>
        <p:spPr>
          <a:xfrm>
            <a:off x="3209544" y="3054096"/>
            <a:ext cx="5669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29000" y="3054096"/>
            <a:ext cx="685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1480" y="326440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Harassment (RAI)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32888" y="3328416"/>
            <a:ext cx="246185" cy="118872"/>
          </a:xfrm>
          <a:prstGeom prst="rect">
            <a:avLst/>
          </a:prstGeom>
          <a:solidFill>
            <a:srgbClr val="D71E2B"/>
          </a:solidFill>
          <a:ln/>
        </p:spPr>
      </p:sp>
      <p:sp>
        <p:nvSpPr>
          <p:cNvPr id="43" name="Text 41"/>
          <p:cNvSpPr/>
          <p:nvPr/>
        </p:nvSpPr>
        <p:spPr>
          <a:xfrm>
            <a:off x="3209544" y="3264408"/>
            <a:ext cx="5669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29000" y="3264408"/>
            <a:ext cx="685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11480" y="3474720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Sexually Suggestive (RAI)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32888" y="3538728"/>
            <a:ext cx="246185" cy="118872"/>
          </a:xfrm>
          <a:prstGeom prst="rect">
            <a:avLst/>
          </a:prstGeom>
          <a:solidFill>
            <a:srgbClr val="D71E2B"/>
          </a:solidFill>
          <a:ln/>
        </p:spPr>
      </p:sp>
      <p:sp>
        <p:nvSpPr>
          <p:cNvPr id="47" name="Text 45"/>
          <p:cNvSpPr/>
          <p:nvPr/>
        </p:nvSpPr>
        <p:spPr>
          <a:xfrm>
            <a:off x="3209544" y="3474720"/>
            <a:ext cx="5669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429000" y="3474720"/>
            <a:ext cx="685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685032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 (RAI)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532888" y="3749040"/>
            <a:ext cx="246185" cy="118872"/>
          </a:xfrm>
          <a:prstGeom prst="rect">
            <a:avLst/>
          </a:prstGeom>
          <a:solidFill>
            <a:srgbClr val="D71E2B"/>
          </a:solidFill>
          <a:ln/>
        </p:spPr>
      </p:sp>
      <p:sp>
        <p:nvSpPr>
          <p:cNvPr id="51" name="Text 49"/>
          <p:cNvSpPr/>
          <p:nvPr/>
        </p:nvSpPr>
        <p:spPr>
          <a:xfrm>
            <a:off x="3209544" y="3685032"/>
            <a:ext cx="5669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429000" y="3685032"/>
            <a:ext cx="685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11480" y="3895344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(SDP)*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209544" y="3895344"/>
            <a:ext cx="5669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429000" y="3895344"/>
            <a:ext cx="685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11480" y="410565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CSAM (default-on)*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209544" y="4105656"/>
            <a:ext cx="5669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429000" y="4105656"/>
            <a:ext cx="685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334256"/>
            <a:ext cx="3703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36168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209544" y="4361688"/>
            <a:ext cx="5669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429000" y="4361688"/>
            <a:ext cx="685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11480" y="4590288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20" i="1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*Excluded from the current files by request; CSAM validated via Google's default-on filter, not authored content.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5257800" y="1783080"/>
            <a:ext cx="3703320" cy="3035808"/>
          </a:xfrm>
          <a:prstGeom prst="roundRect">
            <a:avLst>
              <a:gd name="adj" fmla="val 1807"/>
            </a:avLst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458968" y="1819656"/>
            <a:ext cx="33009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458968" y="203911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HarmBench, AdvBench, Do-Not-Answer, garak in-the-wild jailbreak corpus (public research benchmarks)</a:t>
            </a:r>
            <a:endParaRPr lang="en-US" sz="87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Phishing.Database live feed for malicious-URI tests; synthetic probes (fabricated values) for sensitive-data &amp; RAI gaps</a:t>
            </a:r>
            <a:endParaRPr lang="en-US" sz="870" dirty="0"/>
          </a:p>
        </p:txBody>
      </p:sp>
      <p:sp>
        <p:nvSpPr>
          <p:cNvPr id="67" name="Text 65"/>
          <p:cNvSpPr/>
          <p:nvPr/>
        </p:nvSpPr>
        <p:spPr>
          <a:xfrm>
            <a:off x="5458968" y="2706624"/>
            <a:ext cx="33009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458968" y="2926080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attack-vector framings: direct, roleplay, hypothetical, authority, injection, refusal-suppression, encoding, context-stuffing, jailbreak templates</a:t>
            </a:r>
            <a:endParaRPr lang="en-US" sz="87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set uses Crescendo-style escalation (2 benign turns then the harmful ask)</a:t>
            </a:r>
            <a:endParaRPr lang="en-US" sz="870" dirty="0"/>
          </a:p>
        </p:txBody>
      </p:sp>
      <p:sp>
        <p:nvSpPr>
          <p:cNvPr id="69" name="Text 67"/>
          <p:cNvSpPr/>
          <p:nvPr/>
        </p:nvSpPr>
        <p:spPr>
          <a:xfrm>
            <a:off x="5458968" y="3675888"/>
            <a:ext cx="33009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&amp; Coverage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458968" y="389534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labeled with MA category, attack vector, confidence target &amp; severity for per-filter scoring</a:t>
            </a:r>
            <a:endParaRPr lang="en-US" sz="87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distribution prevents any single filter dominating; 0 duplicates, all single-turn ≥7 words</a:t>
            </a:r>
            <a:endParaRPr lang="en-US" sz="87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to the sanitizeUserPrompt / sanitizeModelResponse validation harness</a:t>
            </a:r>
            <a:endParaRPr lang="en-US" sz="870" dirty="0"/>
          </a:p>
        </p:txBody>
      </p:sp>
      <p:sp>
        <p:nvSpPr>
          <p:cNvPr id="71" name="Shape 69"/>
          <p:cNvSpPr/>
          <p:nvPr/>
        </p:nvSpPr>
        <p:spPr>
          <a:xfrm>
            <a:off x="411480" y="4864608"/>
            <a:ext cx="85496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" y="4901184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GenAI Platform  ·  Guardrails Validation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549640" y="4901184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261</Words>
  <Application>Microsoft Office PowerPoint</Application>
  <PresentationFormat>On-screen Show (16:9)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Armor Test Datasets — Summary</dc:title>
  <dc:subject>PptxGenJS Presentation</dc:subject>
  <dc:creator>Enterprise GenAI Platform</dc:creator>
  <cp:lastModifiedBy>Ravi Yogesh</cp:lastModifiedBy>
  <cp:revision>2</cp:revision>
  <dcterms:created xsi:type="dcterms:W3CDTF">2026-06-29T19:46:51Z</dcterms:created>
  <dcterms:modified xsi:type="dcterms:W3CDTF">2026-06-29T19:51:48Z</dcterms:modified>
</cp:coreProperties>
</file>